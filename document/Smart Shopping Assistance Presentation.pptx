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8" r:id="rId4"/>
    <p:sldId id="259" r:id="rId5"/>
    <p:sldId id="261" r:id="rId6"/>
    <p:sldId id="264" r:id="rId7"/>
    <p:sldId id="26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BB4A8-141C-C073-18C4-8317DB423C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21B2DAC-BA02-10C1-5CD2-5BAD670AAC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C387C0E-B549-DB6C-54C3-28A4913B8A4C}"/>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5" name="Footer Placeholder 4">
            <a:extLst>
              <a:ext uri="{FF2B5EF4-FFF2-40B4-BE49-F238E27FC236}">
                <a16:creationId xmlns:a16="http://schemas.microsoft.com/office/drawing/2014/main" id="{F14C8FB2-555F-F6AA-FD2D-14AFD22779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6D18EF-F417-A24C-B6E2-8C91C6CE667B}"/>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2394700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0E0E7-7985-7E7C-D1B3-AABA1295B0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8DF1ED-07D7-A972-1E62-57F0BF5D1E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C986F1-790D-F53A-1046-DE4EA3C2E489}"/>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5" name="Footer Placeholder 4">
            <a:extLst>
              <a:ext uri="{FF2B5EF4-FFF2-40B4-BE49-F238E27FC236}">
                <a16:creationId xmlns:a16="http://schemas.microsoft.com/office/drawing/2014/main" id="{CAA9CF28-920C-1985-56AC-1C4FD564CC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965393-30C5-6CA5-583D-3BF7B81B51AF}"/>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2426290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3196C-3C7C-ECB0-8E6D-794E61C4AA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3E4CC28-6B7B-EAA8-4034-961AD7D2FC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0D56BE-E733-F0D9-6BF8-9952227FBDFA}"/>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5" name="Footer Placeholder 4">
            <a:extLst>
              <a:ext uri="{FF2B5EF4-FFF2-40B4-BE49-F238E27FC236}">
                <a16:creationId xmlns:a16="http://schemas.microsoft.com/office/drawing/2014/main" id="{DB61610C-90D7-A52C-01AD-764D60FE8D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E823E0-73AA-3885-8327-206941E6BC12}"/>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1819757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115F6-5F57-98E7-8F19-3615355527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3782CD-4F5D-1532-1C8E-197D084E33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F36FF3-1414-9D07-3B7B-647DE04BE9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FE8D0DC-EA42-A2AB-B6E7-37796A4B0E78}"/>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6" name="Footer Placeholder 5">
            <a:extLst>
              <a:ext uri="{FF2B5EF4-FFF2-40B4-BE49-F238E27FC236}">
                <a16:creationId xmlns:a16="http://schemas.microsoft.com/office/drawing/2014/main" id="{8739C359-F9C7-3C3E-A9AA-7CD23CD218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1E9275-08DA-0DD2-1B30-7757F43FE22A}"/>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390242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9EBFF-C008-887E-B334-44C7F773FF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C2660B-ECA3-371D-EF75-0CEAF5D5E2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34B5C9-4CEF-5A34-2230-26B986BCE3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C0FCD71-39F4-FABC-36B9-17F7F25196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8FBACA-98AF-F2AC-D6E2-7A2C6347CD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D6927D-8D12-7341-BE64-B32C19BF4932}"/>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8" name="Footer Placeholder 7">
            <a:extLst>
              <a:ext uri="{FF2B5EF4-FFF2-40B4-BE49-F238E27FC236}">
                <a16:creationId xmlns:a16="http://schemas.microsoft.com/office/drawing/2014/main" id="{70EE12CA-982C-0823-4762-9F6A18DFE6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C4E4673-D658-14D8-C435-0ACD1FB3F442}"/>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67834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BAD3E-E942-3A1F-1675-93480DDFF4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0D939F-3898-505F-F0C4-A4166858A601}"/>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4" name="Footer Placeholder 3">
            <a:extLst>
              <a:ext uri="{FF2B5EF4-FFF2-40B4-BE49-F238E27FC236}">
                <a16:creationId xmlns:a16="http://schemas.microsoft.com/office/drawing/2014/main" id="{59B0E519-C4E6-2DEE-CF14-C0966C1C1C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5A483E-4D7A-F827-5BFD-0E6957A998CF}"/>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968478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B46149-09E6-79CA-BB5C-C834F8DC1744}"/>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3" name="Footer Placeholder 2">
            <a:extLst>
              <a:ext uri="{FF2B5EF4-FFF2-40B4-BE49-F238E27FC236}">
                <a16:creationId xmlns:a16="http://schemas.microsoft.com/office/drawing/2014/main" id="{F62EF851-F797-30CF-9282-332A6C631E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8D601F-98C3-7CF9-AC8E-FFEC2FB9A031}"/>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2278128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48C3B-2724-A949-F38C-6E9C80908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37B5879-4A94-3AC5-913D-4958B5EB60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931335B-20FC-A382-B16C-A002C97276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82F94-426A-7D5F-C428-5800E23A9E6E}"/>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6" name="Footer Placeholder 5">
            <a:extLst>
              <a:ext uri="{FF2B5EF4-FFF2-40B4-BE49-F238E27FC236}">
                <a16:creationId xmlns:a16="http://schemas.microsoft.com/office/drawing/2014/main" id="{3F0732FB-7D28-E99C-D817-E924B7FD48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6ECB88-D2D0-66D6-53C4-E7C79150B433}"/>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531487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71CD5-3891-FC5A-1511-CB91BDB137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78DD381-A2A3-0A51-D2B2-CFC1F5E7DE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55D9BF-1BE5-0B3E-2178-5B8FC1CA45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1ABDE-BAEC-9825-2EB0-5C68D15EB451}"/>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6" name="Footer Placeholder 5">
            <a:extLst>
              <a:ext uri="{FF2B5EF4-FFF2-40B4-BE49-F238E27FC236}">
                <a16:creationId xmlns:a16="http://schemas.microsoft.com/office/drawing/2014/main" id="{2BF1A804-15ED-298A-D735-5BCDDDEF3D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9BF3F8-59CC-C4C0-F1F0-56925341733E}"/>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2320457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4E581-1119-8B5D-34D5-26D7BB13147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A2CC50-2D98-D34A-AC73-F33C564D00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AE60EC-840B-F527-2DD6-E730ED49F88B}"/>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5" name="Footer Placeholder 4">
            <a:extLst>
              <a:ext uri="{FF2B5EF4-FFF2-40B4-BE49-F238E27FC236}">
                <a16:creationId xmlns:a16="http://schemas.microsoft.com/office/drawing/2014/main" id="{B65280A2-223E-71CC-3897-49F5D7321D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AF0B0D-3C9C-C2C8-7B8D-E1CEBEC9B001}"/>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2711558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9980B9-3739-DB73-A73B-832E3A3887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7391BBF-0032-5CFF-9EB8-389E83D1E4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E11D4C-5043-E05D-F0A5-8115E9F5BB5D}"/>
              </a:ext>
            </a:extLst>
          </p:cNvPr>
          <p:cNvSpPr>
            <a:spLocks noGrp="1"/>
          </p:cNvSpPr>
          <p:nvPr>
            <p:ph type="dt" sz="half" idx="10"/>
          </p:nvPr>
        </p:nvSpPr>
        <p:spPr/>
        <p:txBody>
          <a:bodyPr/>
          <a:lstStyle/>
          <a:p>
            <a:fld id="{08C5209F-F7A7-4416-9185-7BB076303D8C}" type="datetimeFigureOut">
              <a:rPr lang="en-IN" smtClean="0"/>
              <a:t>06-07-2026</a:t>
            </a:fld>
            <a:endParaRPr lang="en-IN"/>
          </a:p>
        </p:txBody>
      </p:sp>
      <p:sp>
        <p:nvSpPr>
          <p:cNvPr id="5" name="Footer Placeholder 4">
            <a:extLst>
              <a:ext uri="{FF2B5EF4-FFF2-40B4-BE49-F238E27FC236}">
                <a16:creationId xmlns:a16="http://schemas.microsoft.com/office/drawing/2014/main" id="{47C05748-FACA-E8DD-1246-69E827EAFA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E7A5F3-08A3-E4CE-620E-4D173EE05A58}"/>
              </a:ext>
            </a:extLst>
          </p:cNvPr>
          <p:cNvSpPr>
            <a:spLocks noGrp="1"/>
          </p:cNvSpPr>
          <p:nvPr>
            <p:ph type="sldNum" sz="quarter" idx="12"/>
          </p:nvPr>
        </p:nvSpPr>
        <p:spPr/>
        <p:txBody>
          <a:bodyPr/>
          <a:lstStyle/>
          <a:p>
            <a:fld id="{5BD801E1-DB55-4FC4-8C34-582D874FD7AE}" type="slidenum">
              <a:rPr lang="en-IN" smtClean="0"/>
              <a:t>‹#›</a:t>
            </a:fld>
            <a:endParaRPr lang="en-IN"/>
          </a:p>
        </p:txBody>
      </p:sp>
    </p:spTree>
    <p:extLst>
      <p:ext uri="{BB962C8B-B14F-4D97-AF65-F5344CB8AC3E}">
        <p14:creationId xmlns:p14="http://schemas.microsoft.com/office/powerpoint/2010/main" val="952350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976FA2-D0FD-7487-E47D-034543B010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5882BC-38FE-76D4-E117-7134778608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DCE012-0556-CA51-F53D-24F349F2D9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C5209F-F7A7-4416-9185-7BB076303D8C}" type="datetimeFigureOut">
              <a:rPr lang="en-IN" smtClean="0"/>
              <a:t>06-07-2026</a:t>
            </a:fld>
            <a:endParaRPr lang="en-IN"/>
          </a:p>
        </p:txBody>
      </p:sp>
      <p:sp>
        <p:nvSpPr>
          <p:cNvPr id="5" name="Footer Placeholder 4">
            <a:extLst>
              <a:ext uri="{FF2B5EF4-FFF2-40B4-BE49-F238E27FC236}">
                <a16:creationId xmlns:a16="http://schemas.microsoft.com/office/drawing/2014/main" id="{7FD296D5-36B1-9004-EA52-3442F3B40E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F96C0F6-D55F-F402-D6EA-9EF6E829B9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D801E1-DB55-4FC4-8C34-582D874FD7AE}" type="slidenum">
              <a:rPr lang="en-IN" smtClean="0"/>
              <a:t>‹#›</a:t>
            </a:fld>
            <a:endParaRPr lang="en-IN"/>
          </a:p>
        </p:txBody>
      </p:sp>
    </p:spTree>
    <p:extLst>
      <p:ext uri="{BB962C8B-B14F-4D97-AF65-F5344CB8AC3E}">
        <p14:creationId xmlns:p14="http://schemas.microsoft.com/office/powerpoint/2010/main" val="942235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E285E-696B-45C6-88A6-ED02D666EA1D}"/>
              </a:ext>
            </a:extLst>
          </p:cNvPr>
          <p:cNvSpPr>
            <a:spLocks noGrp="1"/>
          </p:cNvSpPr>
          <p:nvPr>
            <p:ph type="ctrTitle"/>
          </p:nvPr>
        </p:nvSpPr>
        <p:spPr>
          <a:xfrm>
            <a:off x="941978" y="511630"/>
            <a:ext cx="10308043" cy="3298370"/>
          </a:xfrm>
        </p:spPr>
        <p:txBody>
          <a:bodyPr>
            <a:normAutofit/>
          </a:bodyPr>
          <a:lstStyle/>
          <a:p>
            <a:r>
              <a:rPr lang="en-US" sz="4400" b="1" dirty="0">
                <a:latin typeface="Times New Roman" panose="02020603050405020304" pitchFamily="18" charset="0"/>
                <a:cs typeface="Times New Roman" panose="02020603050405020304" pitchFamily="18" charset="0"/>
              </a:rPr>
              <a:t>SMART SHOPPING ASSISTANCE FOR VISUALLY IMPAIRED PEOPLE</a:t>
            </a:r>
            <a:endParaRPr lang="en-IN" sz="4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C468547-653E-FAEF-409C-32E8E3547308}"/>
              </a:ext>
            </a:extLst>
          </p:cNvPr>
          <p:cNvSpPr txBox="1"/>
          <p:nvPr/>
        </p:nvSpPr>
        <p:spPr>
          <a:xfrm>
            <a:off x="3377260" y="4605454"/>
            <a:ext cx="7872761" cy="1015663"/>
          </a:xfrm>
          <a:prstGeom prst="rect">
            <a:avLst/>
          </a:prstGeom>
          <a:noFill/>
        </p:spPr>
        <p:txBody>
          <a:bodyPr wrap="square" rtlCol="0">
            <a:spAutoFit/>
          </a:bodyPr>
          <a:lstStyle/>
          <a:p>
            <a:pPr algn="r"/>
            <a:r>
              <a:rPr lang="en-US" sz="3200" b="1" dirty="0"/>
              <a:t>AUTHOR</a:t>
            </a:r>
            <a:br>
              <a:rPr lang="en-US" sz="3200" b="1" dirty="0"/>
            </a:br>
            <a:r>
              <a:rPr lang="en-US" sz="2800" dirty="0"/>
              <a:t>VIJAY T</a:t>
            </a:r>
          </a:p>
        </p:txBody>
      </p:sp>
    </p:spTree>
    <p:extLst>
      <p:ext uri="{BB962C8B-B14F-4D97-AF65-F5344CB8AC3E}">
        <p14:creationId xmlns:p14="http://schemas.microsoft.com/office/powerpoint/2010/main" val="2521315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1A55F-122F-5C2B-5899-A4D237BA0CC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054A48C-E348-CF28-F46C-0715D33959C1}"/>
              </a:ext>
            </a:extLst>
          </p:cNvPr>
          <p:cNvSpPr txBox="1">
            <a:spLocks/>
          </p:cNvSpPr>
          <p:nvPr/>
        </p:nvSpPr>
        <p:spPr>
          <a:xfrm>
            <a:off x="349769" y="414247"/>
            <a:ext cx="2183569" cy="53573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PROBLEM:</a:t>
            </a:r>
          </a:p>
        </p:txBody>
      </p:sp>
      <p:sp>
        <p:nvSpPr>
          <p:cNvPr id="4" name="TextBox 3">
            <a:extLst>
              <a:ext uri="{FF2B5EF4-FFF2-40B4-BE49-F238E27FC236}">
                <a16:creationId xmlns:a16="http://schemas.microsoft.com/office/drawing/2014/main" id="{2CE037B4-3A7D-489B-2AE6-40F25985C865}"/>
              </a:ext>
            </a:extLst>
          </p:cNvPr>
          <p:cNvSpPr txBox="1"/>
          <p:nvPr/>
        </p:nvSpPr>
        <p:spPr>
          <a:xfrm>
            <a:off x="1292361" y="4113587"/>
            <a:ext cx="4142241" cy="2031325"/>
          </a:xfrm>
          <a:prstGeom prst="rect">
            <a:avLst/>
          </a:prstGeom>
          <a:noFill/>
          <a:ln>
            <a:solidFill>
              <a:schemeClr val="bg1"/>
            </a:solidFill>
          </a:ln>
        </p:spPr>
        <p:txBody>
          <a:bodyPr wrap="square" rtlCol="0">
            <a:spAutoFit/>
          </a:bodyPr>
          <a:lstStyle/>
          <a:p>
            <a:pPr algn="ctr"/>
            <a:r>
              <a:rPr lang="en-US" dirty="0">
                <a:latin typeface="Times New Roman" panose="02020603050405020304" pitchFamily="18" charset="0"/>
                <a:cs typeface="Times New Roman" panose="02020603050405020304" pitchFamily="18" charset="0"/>
              </a:rPr>
              <a:t>3.  Many disabled customers experience difficulty when trying to locate or identify products, such as being unable to read the label, the mobility to reach and grab an item and having impaired eyesight, is not easily accessible</a:t>
            </a:r>
            <a:endParaRPr lang="en-IN"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301E9D02-D1C3-373B-DEB7-055DBB6F63DC}"/>
              </a:ext>
            </a:extLst>
          </p:cNvPr>
          <p:cNvSpPr txBox="1"/>
          <p:nvPr/>
        </p:nvSpPr>
        <p:spPr>
          <a:xfrm>
            <a:off x="1292361" y="1656015"/>
            <a:ext cx="4142241" cy="1477328"/>
          </a:xfrm>
          <a:prstGeom prst="rect">
            <a:avLst/>
          </a:prstGeom>
          <a:noFill/>
          <a:ln>
            <a:solidFill>
              <a:schemeClr val="bg1"/>
            </a:solidFill>
          </a:ln>
        </p:spPr>
        <p:txBody>
          <a:bodyPr wrap="square" rtlCol="0">
            <a:spAutoFit/>
          </a:bodyPr>
          <a:lstStyle/>
          <a:p>
            <a:pPr marL="342900" indent="-342900" algn="ctr">
              <a:buFont typeface="+mj-lt"/>
              <a:buAutoNum type="arabicPeriod"/>
            </a:pPr>
            <a:r>
              <a:rPr lang="en-US" dirty="0">
                <a:latin typeface="Times New Roman" panose="02020603050405020304" pitchFamily="18" charset="0"/>
                <a:cs typeface="Times New Roman" panose="02020603050405020304" pitchFamily="18" charset="0"/>
              </a:rPr>
              <a:t>Most retailers have failed to introduce arrangements or facilities in order to facilitate independent shopping for persons who have any form of physical disability. </a:t>
            </a:r>
          </a:p>
        </p:txBody>
      </p:sp>
      <p:sp>
        <p:nvSpPr>
          <p:cNvPr id="6" name="TextBox 5">
            <a:extLst>
              <a:ext uri="{FF2B5EF4-FFF2-40B4-BE49-F238E27FC236}">
                <a16:creationId xmlns:a16="http://schemas.microsoft.com/office/drawing/2014/main" id="{CDBF66AE-2078-2A66-E2FE-121CC5DE13A3}"/>
              </a:ext>
            </a:extLst>
          </p:cNvPr>
          <p:cNvSpPr txBox="1"/>
          <p:nvPr/>
        </p:nvSpPr>
        <p:spPr>
          <a:xfrm>
            <a:off x="6757398" y="1656015"/>
            <a:ext cx="4142241" cy="1477328"/>
          </a:xfrm>
          <a:prstGeom prst="rect">
            <a:avLst/>
          </a:prstGeom>
          <a:noFill/>
          <a:ln>
            <a:solidFill>
              <a:schemeClr val="bg1"/>
            </a:solidFill>
          </a:ln>
        </p:spPr>
        <p:txBody>
          <a:bodyPr wrap="square" rtlCol="0">
            <a:spAutoFit/>
          </a:bodyPr>
          <a:lstStyle/>
          <a:p>
            <a:pPr marL="342900" indent="-342900" algn="ctr">
              <a:buAutoNum type="arabicPeriod" startAt="2"/>
            </a:pPr>
            <a:r>
              <a:rPr lang="en-US" dirty="0">
                <a:latin typeface="Times New Roman" panose="02020603050405020304" pitchFamily="18" charset="0"/>
                <a:cs typeface="Times New Roman" panose="02020603050405020304" pitchFamily="18" charset="0"/>
              </a:rPr>
              <a:t>Compared to conventional retailing models, the existing solutions do not provide any kind of support for disabled customers</a:t>
            </a:r>
          </a:p>
          <a:p>
            <a:pPr marL="342900" indent="-342900" algn="ctr">
              <a:buAutoNum type="arabicPeriod" startAt="2"/>
            </a:pPr>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8EBB22D6-123F-3FE7-C0CB-BFE4B3F6E266}"/>
              </a:ext>
            </a:extLst>
          </p:cNvPr>
          <p:cNvPicPr>
            <a:picLocks noChangeAspect="1"/>
          </p:cNvPicPr>
          <p:nvPr/>
        </p:nvPicPr>
        <p:blipFill>
          <a:blip r:embed="rId2"/>
          <a:srcRect l="19138" t="8207" r="14095"/>
          <a:stretch>
            <a:fillRect/>
          </a:stretch>
        </p:blipFill>
        <p:spPr>
          <a:xfrm>
            <a:off x="5787000" y="2927998"/>
            <a:ext cx="970398" cy="1334124"/>
          </a:xfrm>
          <a:prstGeom prst="rect">
            <a:avLst/>
          </a:prstGeom>
        </p:spPr>
      </p:pic>
      <p:pic>
        <p:nvPicPr>
          <p:cNvPr id="9" name="Picture 8">
            <a:extLst>
              <a:ext uri="{FF2B5EF4-FFF2-40B4-BE49-F238E27FC236}">
                <a16:creationId xmlns:a16="http://schemas.microsoft.com/office/drawing/2014/main" id="{8FE207AD-CE67-5409-725E-43F8E87779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5942" y="3429000"/>
            <a:ext cx="4913274" cy="2715912"/>
          </a:xfrm>
          <a:prstGeom prst="rect">
            <a:avLst/>
          </a:prstGeom>
        </p:spPr>
      </p:pic>
    </p:spTree>
    <p:extLst>
      <p:ext uri="{BB962C8B-B14F-4D97-AF65-F5344CB8AC3E}">
        <p14:creationId xmlns:p14="http://schemas.microsoft.com/office/powerpoint/2010/main" val="189877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F5D46-96B4-ADB4-628D-B982B396C4DF}"/>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F3ED4CED-596C-297D-E819-3D6B70BC7E17}"/>
              </a:ext>
            </a:extLst>
          </p:cNvPr>
          <p:cNvSpPr txBox="1">
            <a:spLocks/>
          </p:cNvSpPr>
          <p:nvPr/>
        </p:nvSpPr>
        <p:spPr>
          <a:xfrm>
            <a:off x="349769" y="414247"/>
            <a:ext cx="2183569" cy="535737"/>
          </a:xfrm>
          <a:prstGeom prst="rect">
            <a:avLst/>
          </a:prstGeom>
        </p:spPr>
        <p:txBody>
          <a:bodyPr vert="horz" lIns="91440" tIns="45720" rIns="91440" bIns="45720" rtlCol="0" anchor="b">
            <a:normAutofit fontScale="4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SOLUTION:</a:t>
            </a:r>
          </a:p>
        </p:txBody>
      </p:sp>
      <p:sp>
        <p:nvSpPr>
          <p:cNvPr id="4" name="TextBox 3">
            <a:extLst>
              <a:ext uri="{FF2B5EF4-FFF2-40B4-BE49-F238E27FC236}">
                <a16:creationId xmlns:a16="http://schemas.microsoft.com/office/drawing/2014/main" id="{0565485A-4962-B81E-0753-0E8CB6CF0AB5}"/>
              </a:ext>
            </a:extLst>
          </p:cNvPr>
          <p:cNvSpPr txBox="1"/>
          <p:nvPr/>
        </p:nvSpPr>
        <p:spPr>
          <a:xfrm>
            <a:off x="1079292" y="1184222"/>
            <a:ext cx="4432090" cy="5016758"/>
          </a:xfrm>
          <a:prstGeom prst="rect">
            <a:avLst/>
          </a:prstGeom>
          <a:noFill/>
        </p:spPr>
        <p:txBody>
          <a:bodyPr wrap="square" rtlCol="0">
            <a:spAutoFit/>
          </a:bodyPr>
          <a:lstStyle/>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A camera module attached to an electronic component called the system performs real-time product recognition and barcode scanning</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This innovative approach enables people with physical disabilities to shop independently. </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dirty="0"/>
              <a:t>In addition to the guidance system and the ability to provide verbal confirmation of added items to their virtual cart and real-time checkout totals</a:t>
            </a:r>
          </a:p>
          <a:p>
            <a:endParaRPr lang="en-IN" sz="2000" dirty="0"/>
          </a:p>
        </p:txBody>
      </p:sp>
      <p:pic>
        <p:nvPicPr>
          <p:cNvPr id="11" name="Picture 10">
            <a:extLst>
              <a:ext uri="{FF2B5EF4-FFF2-40B4-BE49-F238E27FC236}">
                <a16:creationId xmlns:a16="http://schemas.microsoft.com/office/drawing/2014/main" id="{8467753B-CC56-99C8-D915-4C6ADA9E00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046157"/>
            <a:ext cx="5017073" cy="3074183"/>
          </a:xfrm>
          <a:prstGeom prst="rect">
            <a:avLst/>
          </a:prstGeom>
        </p:spPr>
      </p:pic>
    </p:spTree>
    <p:extLst>
      <p:ext uri="{BB962C8B-B14F-4D97-AF65-F5344CB8AC3E}">
        <p14:creationId xmlns:p14="http://schemas.microsoft.com/office/powerpoint/2010/main" val="3686323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4328-F0C5-1E8C-D0EA-F0818809B8B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51B713E-6410-A577-CBA7-70F3C5715B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6249" y="1421278"/>
            <a:ext cx="5178336" cy="4718787"/>
          </a:xfrm>
          <a:prstGeom prst="rect">
            <a:avLst/>
          </a:prstGeom>
        </p:spPr>
      </p:pic>
      <p:sp>
        <p:nvSpPr>
          <p:cNvPr id="4" name="TextBox 3">
            <a:extLst>
              <a:ext uri="{FF2B5EF4-FFF2-40B4-BE49-F238E27FC236}">
                <a16:creationId xmlns:a16="http://schemas.microsoft.com/office/drawing/2014/main" id="{D7A80377-5836-8E7C-E04F-EA577249EADF}"/>
              </a:ext>
            </a:extLst>
          </p:cNvPr>
          <p:cNvSpPr txBox="1"/>
          <p:nvPr/>
        </p:nvSpPr>
        <p:spPr>
          <a:xfrm>
            <a:off x="7679623" y="1892572"/>
            <a:ext cx="4016672" cy="3785652"/>
          </a:xfrm>
          <a:prstGeom prst="rect">
            <a:avLst/>
          </a:prstGeom>
          <a:noFill/>
        </p:spPr>
        <p:txBody>
          <a:bodyPr wrap="square" rtlCol="0">
            <a:spAutoFit/>
          </a:bodyPr>
          <a:lstStyle/>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Embedded Processing Unit</a:t>
            </a:r>
          </a:p>
          <a:p>
            <a:pPr marL="342900" indent="-3429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Camera Module</a:t>
            </a:r>
          </a:p>
          <a:p>
            <a:pPr marL="342900" indent="-3429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Trigger-Based User Input Interface</a:t>
            </a:r>
          </a:p>
          <a:p>
            <a:pPr marL="342900" indent="-3429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Cart Management &amp; Billing Module</a:t>
            </a:r>
          </a:p>
          <a:p>
            <a:pPr marL="342900" indent="-3429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Audio Feedback &amp; Voice Output Module</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AAFC112-B39E-CFA8-B247-D46E3FA82C0F}"/>
              </a:ext>
            </a:extLst>
          </p:cNvPr>
          <p:cNvSpPr txBox="1"/>
          <p:nvPr/>
        </p:nvSpPr>
        <p:spPr>
          <a:xfrm>
            <a:off x="7679623" y="1221223"/>
            <a:ext cx="2721052"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KEY COMPONENTS</a:t>
            </a:r>
            <a:endParaRPr lang="en-IN" sz="2000" b="1" dirty="0">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1D43CFE0-EB13-468B-59F4-4E865DFD430C}"/>
              </a:ext>
            </a:extLst>
          </p:cNvPr>
          <p:cNvSpPr txBox="1">
            <a:spLocks/>
          </p:cNvSpPr>
          <p:nvPr/>
        </p:nvSpPr>
        <p:spPr>
          <a:xfrm>
            <a:off x="349769" y="414247"/>
            <a:ext cx="4252211" cy="535737"/>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dirty="0">
                <a:latin typeface="Times New Roman" panose="02020603050405020304" pitchFamily="18" charset="0"/>
                <a:cs typeface="Times New Roman" panose="02020603050405020304" pitchFamily="18" charset="0"/>
              </a:rPr>
              <a:t>COMPONENTS AND FUNCTION </a:t>
            </a:r>
          </a:p>
        </p:txBody>
      </p:sp>
      <p:pic>
        <p:nvPicPr>
          <p:cNvPr id="3074" name="Picture 2" descr="Embedded Processor Market Insights and ...">
            <a:extLst>
              <a:ext uri="{FF2B5EF4-FFF2-40B4-BE49-F238E27FC236}">
                <a16:creationId xmlns:a16="http://schemas.microsoft.com/office/drawing/2014/main" id="{387E5639-FB7A-001E-E8F7-C644EA01156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702" r="20481"/>
          <a:stretch>
            <a:fillRect/>
          </a:stretch>
        </p:blipFill>
        <p:spPr bwMode="auto">
          <a:xfrm>
            <a:off x="5621311" y="2950719"/>
            <a:ext cx="1843791" cy="175736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NTSUN Mini Portable Speaker, 3W Mobile ...">
            <a:extLst>
              <a:ext uri="{FF2B5EF4-FFF2-40B4-BE49-F238E27FC236}">
                <a16:creationId xmlns:a16="http://schemas.microsoft.com/office/drawing/2014/main" id="{4A9ECE71-36F6-4AFC-79BA-22B2FA71BA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4585" y="4708526"/>
            <a:ext cx="1528997" cy="15289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74E9EC5-CC78-C698-C53A-F8BB7F5932CE}"/>
              </a:ext>
            </a:extLst>
          </p:cNvPr>
          <p:cNvPicPr>
            <a:picLocks noChangeAspect="1"/>
          </p:cNvPicPr>
          <p:nvPr/>
        </p:nvPicPr>
        <p:blipFill>
          <a:blip r:embed="rId5"/>
          <a:stretch>
            <a:fillRect/>
          </a:stretch>
        </p:blipFill>
        <p:spPr>
          <a:xfrm>
            <a:off x="5846902" y="1386016"/>
            <a:ext cx="1618199" cy="1564259"/>
          </a:xfrm>
          <a:prstGeom prst="rect">
            <a:avLst/>
          </a:prstGeom>
        </p:spPr>
      </p:pic>
    </p:spTree>
    <p:extLst>
      <p:ext uri="{BB962C8B-B14F-4D97-AF65-F5344CB8AC3E}">
        <p14:creationId xmlns:p14="http://schemas.microsoft.com/office/powerpoint/2010/main" val="460193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9B1AB-7F9A-092E-C23D-C493FF7748BB}"/>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5584C8A9-9FEC-53EC-273A-64E722FF4506}"/>
              </a:ext>
            </a:extLst>
          </p:cNvPr>
          <p:cNvSpPr txBox="1">
            <a:spLocks/>
          </p:cNvSpPr>
          <p:nvPr/>
        </p:nvSpPr>
        <p:spPr>
          <a:xfrm>
            <a:off x="349769" y="279154"/>
            <a:ext cx="6305864" cy="695024"/>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latin typeface="Times New Roman" panose="02020603050405020304" pitchFamily="18" charset="0"/>
                <a:cs typeface="Times New Roman" panose="02020603050405020304" pitchFamily="18" charset="0"/>
              </a:rPr>
              <a:t>CURRENT STATUS​ / TECH STACK:</a:t>
            </a:r>
          </a:p>
        </p:txBody>
      </p:sp>
      <p:sp>
        <p:nvSpPr>
          <p:cNvPr id="4" name="TextBox 3">
            <a:extLst>
              <a:ext uri="{FF2B5EF4-FFF2-40B4-BE49-F238E27FC236}">
                <a16:creationId xmlns:a16="http://schemas.microsoft.com/office/drawing/2014/main" id="{95CF1E72-44A5-03D5-04A8-B57C372C2AC9}"/>
              </a:ext>
            </a:extLst>
          </p:cNvPr>
          <p:cNvSpPr txBox="1"/>
          <p:nvPr/>
        </p:nvSpPr>
        <p:spPr>
          <a:xfrm>
            <a:off x="8315303" y="4077527"/>
            <a:ext cx="3526928" cy="2215991"/>
          </a:xfrm>
          <a:prstGeom prst="rect">
            <a:avLst/>
          </a:prstGeom>
          <a:noFill/>
        </p:spPr>
        <p:txBody>
          <a:bodyPr wrap="none" rtlCol="0">
            <a:spAutoFit/>
          </a:bodyPr>
          <a:lstStyle/>
          <a:p>
            <a:r>
              <a:rPr lang="en-US" sz="2000" dirty="0">
                <a:latin typeface="Times New Roman" panose="02020603050405020304" pitchFamily="18" charset="0"/>
                <a:cs typeface="Times New Roman" panose="02020603050405020304" pitchFamily="18" charset="0"/>
              </a:rPr>
              <a:t>TRL7: End-to-end functionality:</a:t>
            </a:r>
          </a:p>
          <a:p>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Object detection</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Barcode scanning</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Voice guidance</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Cart creation &amp; billing</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E914981-3B47-1D1F-CA4F-8324C7F2DD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5303" y="1236483"/>
            <a:ext cx="3406060" cy="2554545"/>
          </a:xfrm>
          <a:prstGeom prst="rect">
            <a:avLst/>
          </a:prstGeom>
        </p:spPr>
      </p:pic>
      <p:sp>
        <p:nvSpPr>
          <p:cNvPr id="6" name="TextBox 5">
            <a:extLst>
              <a:ext uri="{FF2B5EF4-FFF2-40B4-BE49-F238E27FC236}">
                <a16:creationId xmlns:a16="http://schemas.microsoft.com/office/drawing/2014/main" id="{AB187072-9E65-11C6-79DA-D71214F9EAB3}"/>
              </a:ext>
            </a:extLst>
          </p:cNvPr>
          <p:cNvSpPr txBox="1"/>
          <p:nvPr/>
        </p:nvSpPr>
        <p:spPr>
          <a:xfrm>
            <a:off x="599607" y="949984"/>
            <a:ext cx="7566826" cy="1200329"/>
          </a:xfrm>
          <a:prstGeom prst="rect">
            <a:avLst/>
          </a:prstGeom>
          <a:noFill/>
        </p:spPr>
        <p:txBody>
          <a:bodyPr wrap="square" rtlCol="0">
            <a:spAutoFit/>
          </a:bodyPr>
          <a:lstStyle/>
          <a:p>
            <a:pPr algn="ctr"/>
            <a:r>
              <a:rPr lang="en-US" sz="2400" b="1" u="sng" dirty="0">
                <a:latin typeface="Times New Roman" panose="02020603050405020304" pitchFamily="18" charset="0"/>
                <a:cs typeface="Times New Roman" panose="02020603050405020304" pitchFamily="18" charset="0"/>
              </a:rPr>
              <a:t>TRL 7</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achieved </a:t>
            </a:r>
          </a:p>
          <a:p>
            <a:pPr algn="ctr"/>
            <a:r>
              <a:rPr lang="en-US" sz="2400" dirty="0">
                <a:latin typeface="Times New Roman" panose="02020603050405020304" pitchFamily="18" charset="0"/>
                <a:cs typeface="Times New Roman" panose="02020603050405020304" pitchFamily="18" charset="0"/>
              </a:rPr>
              <a:t>The prototype is built and demonstrated </a:t>
            </a:r>
          </a:p>
          <a:p>
            <a:pPr algn="ctr"/>
            <a:r>
              <a:rPr lang="en-US" sz="2400" dirty="0">
                <a:latin typeface="Times New Roman" panose="02020603050405020304" pitchFamily="18" charset="0"/>
                <a:cs typeface="Times New Roman" panose="02020603050405020304" pitchFamily="18" charset="0"/>
              </a:rPr>
              <a:t>in a real-world environment</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E5F85F5-5E3A-BA2D-51B6-AA2B8E601AC3}"/>
              </a:ext>
            </a:extLst>
          </p:cNvPr>
          <p:cNvSpPr txBox="1"/>
          <p:nvPr/>
        </p:nvSpPr>
        <p:spPr>
          <a:xfrm>
            <a:off x="1277522" y="2329785"/>
            <a:ext cx="5801568" cy="3785652"/>
          </a:xfrm>
          <a:prstGeom prst="rect">
            <a:avLst/>
          </a:prstGeom>
          <a:noFill/>
        </p:spPr>
        <p:txBody>
          <a:bodyPr wrap="square" rtlCol="0">
            <a:spAutoFit/>
          </a:bodyPr>
          <a:lstStyle/>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development of the assistive shopping system is further advanced than originally thought. </a:t>
            </a: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Currently, the system has moved past the concept phase and is now in prototype development and testing.</a:t>
            </a:r>
          </a:p>
          <a:p>
            <a:pPr marL="285750" indent="-285750">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current prototype incorporates critical elements of the hardware, such as the processing unit, camera and navigation sensors; therefore, users will experience improved reliability and portability as refinement continues.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9117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4E6ED-36D0-BACC-AFB7-E853331811F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FDB725-63CA-CE57-755E-A7B10BB239C4}"/>
              </a:ext>
            </a:extLst>
          </p:cNvPr>
          <p:cNvSpPr txBox="1"/>
          <p:nvPr/>
        </p:nvSpPr>
        <p:spPr>
          <a:xfrm>
            <a:off x="777830" y="1657364"/>
            <a:ext cx="7685117" cy="677108"/>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SDG 3 </a:t>
            </a:r>
            <a:r>
              <a:rPr lang="en-US" b="1" dirty="0">
                <a:latin typeface="Times New Roman" panose="02020603050405020304" pitchFamily="18" charset="0"/>
                <a:cs typeface="Times New Roman" panose="02020603050405020304" pitchFamily="18" charset="0"/>
              </a:rPr>
              <a:t>— Good Health and Well-Being</a:t>
            </a:r>
          </a:p>
          <a:p>
            <a:r>
              <a:rPr lang="en-US" dirty="0"/>
              <a:t>Enhances </a:t>
            </a:r>
            <a:r>
              <a:rPr lang="en-US" i="1" dirty="0"/>
              <a:t>mental and physical well-being</a:t>
            </a:r>
            <a:r>
              <a:rPr lang="en-US" dirty="0"/>
              <a:t> by increasing mobility and confidence.</a:t>
            </a:r>
          </a:p>
        </p:txBody>
      </p:sp>
      <p:sp>
        <p:nvSpPr>
          <p:cNvPr id="5" name="TextBox 4">
            <a:extLst>
              <a:ext uri="{FF2B5EF4-FFF2-40B4-BE49-F238E27FC236}">
                <a16:creationId xmlns:a16="http://schemas.microsoft.com/office/drawing/2014/main" id="{87EA0650-2285-7C2C-241D-134826D3EB1F}"/>
              </a:ext>
            </a:extLst>
          </p:cNvPr>
          <p:cNvSpPr txBox="1"/>
          <p:nvPr/>
        </p:nvSpPr>
        <p:spPr>
          <a:xfrm>
            <a:off x="777830" y="3673098"/>
            <a:ext cx="4637808" cy="646331"/>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SDG 4 — Quality Education</a:t>
            </a:r>
            <a:r>
              <a:rPr lang="en-US"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p>
            <a:r>
              <a:rPr lang="en-US" dirty="0"/>
              <a:t>Supports independent learning and exploration</a:t>
            </a:r>
          </a:p>
        </p:txBody>
      </p:sp>
      <p:sp>
        <p:nvSpPr>
          <p:cNvPr id="6" name="TextBox 5">
            <a:extLst>
              <a:ext uri="{FF2B5EF4-FFF2-40B4-BE49-F238E27FC236}">
                <a16:creationId xmlns:a16="http://schemas.microsoft.com/office/drawing/2014/main" id="{F2ED0239-BB41-8C5A-2D2E-53AA00F6FAC2}"/>
              </a:ext>
            </a:extLst>
          </p:cNvPr>
          <p:cNvSpPr txBox="1"/>
          <p:nvPr/>
        </p:nvSpPr>
        <p:spPr>
          <a:xfrm>
            <a:off x="4620389" y="2518303"/>
            <a:ext cx="7421793" cy="923330"/>
          </a:xfrm>
          <a:prstGeom prst="rect">
            <a:avLst/>
          </a:prstGeom>
          <a:noFill/>
        </p:spPr>
        <p:txBody>
          <a:bodyPr wrap="square" rtlCol="0">
            <a:spAutoFit/>
          </a:bodyPr>
          <a:lstStyle/>
          <a:p>
            <a:r>
              <a:rPr lang="en-US" b="1" dirty="0"/>
              <a:t> </a:t>
            </a:r>
            <a:r>
              <a:rPr lang="en-US" b="1" dirty="0">
                <a:latin typeface="Times New Roman" panose="02020603050405020304" pitchFamily="18" charset="0"/>
                <a:cs typeface="Times New Roman" panose="02020603050405020304" pitchFamily="18" charset="0"/>
              </a:rPr>
              <a:t>SDG 8 — Decent Work and Economic Growth</a:t>
            </a:r>
          </a:p>
          <a:p>
            <a:r>
              <a:rPr lang="en-US" dirty="0"/>
              <a:t>Improves </a:t>
            </a:r>
            <a:r>
              <a:rPr lang="en-US" i="1" dirty="0"/>
              <a:t>employability and productivity</a:t>
            </a:r>
            <a:r>
              <a:rPr lang="en-US" dirty="0"/>
              <a:t> by making travel to workplaces safer and more reliable.</a:t>
            </a:r>
          </a:p>
        </p:txBody>
      </p:sp>
      <p:sp>
        <p:nvSpPr>
          <p:cNvPr id="7" name="TextBox 6">
            <a:extLst>
              <a:ext uri="{FF2B5EF4-FFF2-40B4-BE49-F238E27FC236}">
                <a16:creationId xmlns:a16="http://schemas.microsoft.com/office/drawing/2014/main" id="{FEF773B7-2FCF-6459-845A-978848ED9603}"/>
              </a:ext>
            </a:extLst>
          </p:cNvPr>
          <p:cNvSpPr txBox="1"/>
          <p:nvPr/>
        </p:nvSpPr>
        <p:spPr>
          <a:xfrm>
            <a:off x="777830" y="5432347"/>
            <a:ext cx="5913222" cy="646331"/>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SDG 9 — Industry, Innovation and Infrastructure</a:t>
            </a:r>
          </a:p>
          <a:p>
            <a:r>
              <a:rPr lang="en-US" dirty="0"/>
              <a:t>Encourages </a:t>
            </a:r>
            <a:r>
              <a:rPr lang="en-US" i="1" dirty="0"/>
              <a:t>technology innovation</a:t>
            </a:r>
            <a:r>
              <a:rPr lang="en-US" dirty="0"/>
              <a:t> that supports accessibility.</a:t>
            </a:r>
          </a:p>
        </p:txBody>
      </p:sp>
      <p:sp>
        <p:nvSpPr>
          <p:cNvPr id="8" name="TextBox 7">
            <a:extLst>
              <a:ext uri="{FF2B5EF4-FFF2-40B4-BE49-F238E27FC236}">
                <a16:creationId xmlns:a16="http://schemas.microsoft.com/office/drawing/2014/main" id="{3722ECB2-532B-D61C-6120-0FB661ED5517}"/>
              </a:ext>
            </a:extLst>
          </p:cNvPr>
          <p:cNvSpPr txBox="1"/>
          <p:nvPr/>
        </p:nvSpPr>
        <p:spPr>
          <a:xfrm>
            <a:off x="4620390" y="4554305"/>
            <a:ext cx="6746206" cy="646331"/>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SDG 10 — Reduced Inequalities</a:t>
            </a:r>
            <a:endParaRPr lang="en-US" dirty="0">
              <a:latin typeface="Times New Roman" panose="02020603050405020304" pitchFamily="18" charset="0"/>
              <a:cs typeface="Times New Roman" panose="02020603050405020304" pitchFamily="18" charset="0"/>
            </a:endParaRPr>
          </a:p>
          <a:p>
            <a:r>
              <a:rPr lang="en-US" dirty="0"/>
              <a:t>Promotes social inclusion and equitable access to services and spaces.</a:t>
            </a:r>
          </a:p>
        </p:txBody>
      </p:sp>
      <p:sp>
        <p:nvSpPr>
          <p:cNvPr id="9" name="TextBox 8">
            <a:extLst>
              <a:ext uri="{FF2B5EF4-FFF2-40B4-BE49-F238E27FC236}">
                <a16:creationId xmlns:a16="http://schemas.microsoft.com/office/drawing/2014/main" id="{42E97CAB-F180-ADB6-FDEC-84BB7ECF0224}"/>
              </a:ext>
            </a:extLst>
          </p:cNvPr>
          <p:cNvSpPr txBox="1"/>
          <p:nvPr/>
        </p:nvSpPr>
        <p:spPr>
          <a:xfrm>
            <a:off x="4620388" y="482301"/>
            <a:ext cx="7421794" cy="923330"/>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SDG 11 — Sustainable Cities and Communities</a:t>
            </a:r>
          </a:p>
          <a:p>
            <a:r>
              <a:rPr lang="en-US" dirty="0"/>
              <a:t>Contributes to </a:t>
            </a:r>
            <a:r>
              <a:rPr lang="en-US" i="1" dirty="0"/>
              <a:t>inclusive urban environments</a:t>
            </a:r>
            <a:r>
              <a:rPr lang="en-US" dirty="0"/>
              <a:t> by improving safe navigation in public spaces.</a:t>
            </a:r>
            <a:endParaRPr lang="en-IN" dirty="0"/>
          </a:p>
        </p:txBody>
      </p:sp>
      <p:pic>
        <p:nvPicPr>
          <p:cNvPr id="4098" name="Picture 2" descr="SUSTAINABLE DEVELOPMENT GOALS - Cross ...">
            <a:extLst>
              <a:ext uri="{FF2B5EF4-FFF2-40B4-BE49-F238E27FC236}">
                <a16:creationId xmlns:a16="http://schemas.microsoft.com/office/drawing/2014/main" id="{51C1C2F9-F829-347A-C538-85EB7E59EE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4923" y="5432101"/>
            <a:ext cx="2037259" cy="129315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SUSTAINABLE DEVELOPMENT GOALS - Cross ...">
            <a:extLst>
              <a:ext uri="{FF2B5EF4-FFF2-40B4-BE49-F238E27FC236}">
                <a16:creationId xmlns:a16="http://schemas.microsoft.com/office/drawing/2014/main" id="{8854A4F2-086E-7EFB-29C6-93909E924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818" y="112477"/>
            <a:ext cx="2037259" cy="1293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771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84304-E67E-7699-97CC-B358DC1F9B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C7E553-2D77-CF61-781F-EA9F652967C4}"/>
              </a:ext>
            </a:extLst>
          </p:cNvPr>
          <p:cNvSpPr txBox="1"/>
          <p:nvPr/>
        </p:nvSpPr>
        <p:spPr>
          <a:xfrm>
            <a:off x="1064301" y="1732524"/>
            <a:ext cx="9307729"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Our Solution provides an intelligent, accessibility-focused shopping assistant that facilitates opportunities for persons with physical disabilities to shop independently</a:t>
            </a:r>
          </a:p>
          <a:p>
            <a:endParaRPr lang="en-US" dirty="0">
              <a:latin typeface="Times New Roman" panose="02020603050405020304" pitchFamily="18" charset="0"/>
              <a:cs typeface="Times New Roman" panose="02020603050405020304" pitchFamily="18" charset="0"/>
            </a:endParaRPr>
          </a:p>
          <a:p>
            <a:r>
              <a:rPr lang="en-US" dirty="0"/>
              <a:t>We have developed an integrated system that uses multiple technologies to support real-time product identification, safe aisle navigation, and billing through audio interaction with embedded vision and navigational assistance, thus enabling users to shop independently without the need to depend on staff or other caregivers.</a:t>
            </a:r>
          </a:p>
          <a:p>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23708FF-63FE-74FD-507B-3BDC0481FBFD}"/>
              </a:ext>
            </a:extLst>
          </p:cNvPr>
          <p:cNvSpPr txBox="1"/>
          <p:nvPr/>
        </p:nvSpPr>
        <p:spPr>
          <a:xfrm>
            <a:off x="1064301" y="4040848"/>
            <a:ext cx="1175322" cy="461665"/>
          </a:xfrm>
          <a:prstGeom prst="rect">
            <a:avLst/>
          </a:prstGeom>
          <a:noFill/>
        </p:spPr>
        <p:txBody>
          <a:bodyPr wrap="none" rtlCol="0">
            <a:spAutoFit/>
          </a:bodyPr>
          <a:lstStyle/>
          <a:p>
            <a:r>
              <a:rPr lang="en-US" sz="2400" dirty="0">
                <a:latin typeface="Times New Roman" panose="02020603050405020304" pitchFamily="18" charset="0"/>
                <a:cs typeface="Times New Roman" panose="02020603050405020304" pitchFamily="18" charset="0"/>
              </a:rPr>
              <a:t>Results:</a:t>
            </a:r>
          </a:p>
        </p:txBody>
      </p:sp>
      <p:sp>
        <p:nvSpPr>
          <p:cNvPr id="5" name="TextBox 4">
            <a:extLst>
              <a:ext uri="{FF2B5EF4-FFF2-40B4-BE49-F238E27FC236}">
                <a16:creationId xmlns:a16="http://schemas.microsoft.com/office/drawing/2014/main" id="{094E4116-609B-90FE-3DE1-839C8468313B}"/>
              </a:ext>
            </a:extLst>
          </p:cNvPr>
          <p:cNvSpPr txBox="1"/>
          <p:nvPr/>
        </p:nvSpPr>
        <p:spPr>
          <a:xfrm>
            <a:off x="1064301" y="4602195"/>
            <a:ext cx="7944788"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The result of these efforts is a more scalable, affordable and practical solution for both individuals as well as retailers and institutions seeking to provide access to their goods and services to persons with physical limitations.</a:t>
            </a:r>
            <a:endParaRPr lang="en-IN" dirty="0">
              <a:latin typeface="Times New Roman" panose="02020603050405020304" pitchFamily="18" charset="0"/>
              <a:cs typeface="Times New Roman" panose="02020603050405020304" pitchFamily="18" charset="0"/>
            </a:endParaRPr>
          </a:p>
          <a:p>
            <a:endParaRPr lang="en-IN" dirty="0"/>
          </a:p>
        </p:txBody>
      </p:sp>
      <p:sp>
        <p:nvSpPr>
          <p:cNvPr id="6" name="Title 1">
            <a:extLst>
              <a:ext uri="{FF2B5EF4-FFF2-40B4-BE49-F238E27FC236}">
                <a16:creationId xmlns:a16="http://schemas.microsoft.com/office/drawing/2014/main" id="{64E93622-75AE-F683-C9A2-06D9571BE5B2}"/>
              </a:ext>
            </a:extLst>
          </p:cNvPr>
          <p:cNvSpPr txBox="1">
            <a:spLocks/>
          </p:cNvSpPr>
          <p:nvPr/>
        </p:nvSpPr>
        <p:spPr>
          <a:xfrm>
            <a:off x="349769" y="414247"/>
            <a:ext cx="3367792" cy="535737"/>
          </a:xfrm>
          <a:prstGeom prst="rect">
            <a:avLst/>
          </a:prstGeom>
        </p:spPr>
        <p:txBody>
          <a:bodyPr vert="horz" lIns="91440" tIns="45720" rIns="91440" bIns="45720" rtlCol="0" anchor="b">
            <a:normAutofit fontScale="5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15808029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TotalTime>
  <Words>497</Words>
  <Application>Microsoft Office PowerPoint</Application>
  <PresentationFormat>Widescreen</PresentationFormat>
  <Paragraphs>57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SMART SHOPPING ASSISTANCE FOR VISUALLY IMPAIRED PEOPLE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Rishi 2307</dc:creator>
  <cp:lastModifiedBy>Vijay T</cp:lastModifiedBy>
  <cp:revision>19</cp:revision>
  <dcterms:created xsi:type="dcterms:W3CDTF">2026-01-08T17:55:21Z</dcterms:created>
  <dcterms:modified xsi:type="dcterms:W3CDTF">2026-07-06T15:42:56Z</dcterms:modified>
</cp:coreProperties>
</file>